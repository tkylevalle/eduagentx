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CSCI435 CAPSTONE · PROOF OF CONCEPT · REMO · MON 19 OCT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10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EDUAGENTX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50" kern="0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COMPETENCY ASSURANCE FOR AI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an agent on a validated curriculum, examine it adversarially, fail it closed on any unsafe action, and issue a signed credential that anyone can verify, suspend or revoke.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1691640" cy="105156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" y="5212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SERVICES LIVE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59152" y="4526280"/>
            <a:ext cx="1691640" cy="105156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3744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547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23744" y="5212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UNIT TESTS PASSING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69664" y="4526280"/>
            <a:ext cx="1691640" cy="105156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34256" y="5212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LIFECYCLE STAGES, ONE REAL RUN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RANIYA · PRANAV · TIMOTHY · NEERAJ · TIMURMALIK · LUIS · SALMAN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9944" y="512064"/>
            <a:ext cx="5330952" cy="583387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7" name="Image 0" descr="C:\Users\PC\Desktop\CSCI435 EduAgentX\EduAgentX-poc\docs\poc\screens\lab-pass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548640"/>
            <a:ext cx="525780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· PROBLEM WE ARE SOLVING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AGENTS ARE DEPLOYED ON TRUST, NOT EVIDENCE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Organisations hand AI agents real tools and data. Nothing today proves an agent is competent and safe in a domain, or withdraws that proof.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691640"/>
            <a:ext cx="2724912" cy="44348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91640"/>
            <a:ext cx="2724912" cy="54864"/>
          </a:xfrm>
          <a:prstGeom prst="rect">
            <a:avLst/>
          </a:prstGeom>
          <a:solidFill>
            <a:srgbClr val="5CF2B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STANDARD CERTIFICATION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agreed way to show an agent can do a domain's work safely before it is deployed.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2267712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512064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23% of organisations already run agentic AI in at least one function (McKinsey, 2025).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73552" y="1691640"/>
            <a:ext cx="2724912" cy="44348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3552" y="1691640"/>
            <a:ext cx="2724912" cy="54864"/>
          </a:xfrm>
          <a:prstGeom prst="rect">
            <a:avLst/>
          </a:prstGeom>
          <a:solidFill>
            <a:srgbClr val="86AEFF"/>
          </a:solidFill>
          <a:ln/>
        </p:spPr>
      </p:sp>
      <p:sp>
        <p:nvSpPr>
          <p:cNvPr id="19" name="Text 17"/>
          <p:cNvSpPr/>
          <p:nvPr/>
        </p:nvSpPr>
        <p:spPr>
          <a:xfrm>
            <a:off x="3502152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6AE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502152" y="265176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BENCHMARKS REWARD MEMORISING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502152" y="352044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question sets leak into training data; scores inflate while skill does not.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502152" y="4983480"/>
            <a:ext cx="2267712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502152" y="512064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Benchmark contamination inflates scores across major suites (Katzman et al., 2025; Xu et al., 2025).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1691640"/>
            <a:ext cx="2724912" cy="44348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624" y="1691640"/>
            <a:ext cx="2724912" cy="54864"/>
          </a:xfrm>
          <a:prstGeom prst="rect">
            <a:avLst/>
          </a:prstGeom>
          <a:solidFill>
            <a:srgbClr val="FF5A4E"/>
          </a:solidFill>
          <a:ln/>
        </p:spPr>
      </p:sp>
      <p:sp>
        <p:nvSpPr>
          <p:cNvPr id="26" name="Text 24"/>
          <p:cNvSpPr/>
          <p:nvPr/>
        </p:nvSpPr>
        <p:spPr>
          <a:xfrm>
            <a:off x="6364224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5A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364224" y="265176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HIGH SCORE HIDES ONE UNSAFE ACT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64224" y="352044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at 90% that follows one injected instruction is still unsafe. Averages cannot see that.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64224" y="4983480"/>
            <a:ext cx="2267712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364224" y="512064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 our run: 90% overall, failed on rule critical-o4.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97696" y="1691640"/>
            <a:ext cx="2724912" cy="44348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97696" y="1691640"/>
            <a:ext cx="2724912" cy="54864"/>
          </a:xfrm>
          <a:prstGeom prst="rect">
            <a:avLst/>
          </a:prstGeom>
          <a:solidFill>
            <a:srgbClr val="FFBF47"/>
          </a:solidFill>
          <a:ln/>
        </p:spPr>
      </p:sp>
      <p:sp>
        <p:nvSpPr>
          <p:cNvPr id="33" name="Text 31"/>
          <p:cNvSpPr/>
          <p:nvPr/>
        </p:nvSpPr>
        <p:spPr>
          <a:xfrm>
            <a:off x="9226296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F4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9226296" y="265176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CLAIMS CANNOT BE CHECKED OR REVOKED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226296" y="3520440"/>
            <a:ext cx="2313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badge on a web page cannot be verified, suspended when risk appears, or matched to work.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226296" y="4983480"/>
            <a:ext cx="2267712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9226296" y="5120640"/>
            <a:ext cx="231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40% of enterprise software expected to use task-focused agents by end of 2026 (Gartner, 2025).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· WHAT DIFFERENTIATES US FROM COMPETITORS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BUILT FOR AGENTS, AND BUILT TO FAIL CLOSED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platforms certify people. Benchmarks score models. None of them examine, certify and keep revoking the right of an agent to act.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 / 16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1136873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2057400"/>
                <a:gridCol w="1463040"/>
                <a:gridCol w="1554480"/>
                <a:gridCol w="1463040"/>
                <a:gridCol w="1417320"/>
                <a:gridCol w="1444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CAPABILITY</a:t>
                      </a:r>
                      <a:endParaRPr lang="en-US" sz="85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5CF2B4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EDUAGENTX</a:t>
                      </a:r>
                      <a:endParaRPr lang="en-US" sz="85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COURSERA / EDX</a:t>
                      </a:r>
                      <a:endParaRPr lang="en-US" sz="85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LINKEDIN LEARNING</a:t>
                      </a:r>
                      <a:endParaRPr lang="en-US" sz="85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PLURALSIGHT</a:t>
                      </a:r>
                      <a:endParaRPr lang="en-US" sz="85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HUMANLAYER</a:t>
                      </a:r>
                      <a:endParaRPr lang="en-US" sz="85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00" kern="0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STANFORD HELM</a:t>
                      </a:r>
                      <a:endParaRPr lang="en-US" sz="85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Who is the learner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AI agents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Humans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Humans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Humans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Humans + agent workflows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Language models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Curriculum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Pinned sources, 6 gates, 2 reviewers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Human SMEs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Human SMEs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Human SMEs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Fixed scenarios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Adversarial examination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15 items, 4 adversarial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Static quizzes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Static quizzes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Skill assessments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Static benchmark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Fails closed on unsafe action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Critical rules beat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Human approval gates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Reports metrics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Targeted remediation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Gap → retrain → re-exam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Course suggestions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Verifiable credential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W3C VC 2.0, Ed25519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Course certificate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Completion certificate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Course certificate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Leaderboard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Suspend / revoke status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Live status registry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BF4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◐  Licence expiry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Marketplace eligibility</a:t>
                      </a:r>
                      <a:endParaRPr lang="en-US" sz="105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F2B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 Hard credential gates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✕  Not offered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6199632"/>
            <a:ext cx="11338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✓ OFFERED   ◐ PARTIAL   ✕ NOT OFFERED · COMPETITOR SET FROM OUR WEEK 6 FEASIBILITY REPORT, PLUS HELM AS THE BENCHMARK BASELINE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· SOLUTION OFFERED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ONE CLOSED LOOP FROM CURRICULUM TO REVOCATION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is owned by one service and answered over a versioned contract. A failed exam is not the end: it opens a targeted remediation.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1280160" cy="1051560"/>
          </a:xfrm>
          <a:prstGeom prst="rect">
            <a:avLst/>
          </a:prstGeom>
          <a:solidFill>
            <a:srgbClr val="0B0D11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120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PACKAGE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+ activate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00784" y="2537460"/>
            <a:ext cx="118872" cy="914"/>
          </a:xfrm>
          <a:prstGeom prst="line">
            <a:avLst/>
          </a:prstGeom>
          <a:noFill/>
          <a:ln w="1905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28800" y="2011680"/>
            <a:ext cx="1280160" cy="1051560"/>
          </a:xfrm>
          <a:prstGeom prst="rect">
            <a:avLst/>
          </a:prstGeom>
          <a:solidFill>
            <a:srgbClr val="0B0D11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3852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REGISTER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3852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identity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18104" y="2537460"/>
            <a:ext cx="118872" cy="914"/>
          </a:xfrm>
          <a:prstGeom prst="line">
            <a:avLst/>
          </a:prstGeom>
          <a:noFill/>
          <a:ln w="1905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46120" y="2011680"/>
            <a:ext cx="1280160" cy="1051560"/>
          </a:xfrm>
          <a:prstGeom prst="rect">
            <a:avLst/>
          </a:prstGeom>
          <a:solidFill>
            <a:srgbClr val="0B0D11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5584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5584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deliver, no fine-tune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35424" y="2537460"/>
            <a:ext cx="118872" cy="914"/>
          </a:xfrm>
          <a:prstGeom prst="line">
            <a:avLst/>
          </a:prstGeom>
          <a:noFill/>
          <a:ln w="1905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63440" y="2011680"/>
            <a:ext cx="1280160" cy="1051560"/>
          </a:xfrm>
          <a:prstGeom prst="rect">
            <a:avLst/>
          </a:prstGeom>
          <a:solidFill>
            <a:srgbClr val="1A0F0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7316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EXAMINE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7316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items, graded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52744" y="2537460"/>
            <a:ext cx="118872" cy="914"/>
          </a:xfrm>
          <a:prstGeom prst="line">
            <a:avLst/>
          </a:prstGeom>
          <a:noFill/>
          <a:ln w="1905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2011680"/>
            <a:ext cx="1280160" cy="1051560"/>
          </a:xfrm>
          <a:prstGeom prst="rect">
            <a:avLst/>
          </a:prstGeom>
          <a:solidFill>
            <a:srgbClr val="0B0D11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9048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CERTIFY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9048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+ VC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70064" y="2537460"/>
            <a:ext cx="118872" cy="914"/>
          </a:xfrm>
          <a:prstGeom prst="line">
            <a:avLst/>
          </a:prstGeom>
          <a:noFill/>
          <a:ln w="1905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98080" y="2011680"/>
            <a:ext cx="1280160" cy="1051560"/>
          </a:xfrm>
          <a:prstGeom prst="rect">
            <a:avLst/>
          </a:prstGeom>
          <a:solidFill>
            <a:srgbClr val="0B0D11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0780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VERIFY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0780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checks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87384" y="2537460"/>
            <a:ext cx="118872" cy="914"/>
          </a:xfrm>
          <a:prstGeom prst="line">
            <a:avLst/>
          </a:prstGeom>
          <a:noFill/>
          <a:ln w="1905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915400" y="2011680"/>
            <a:ext cx="1280160" cy="1051560"/>
          </a:xfrm>
          <a:prstGeom prst="rect">
            <a:avLst/>
          </a:prstGeom>
          <a:solidFill>
            <a:srgbClr val="0B0D11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2512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02512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MONITOR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02512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posture, signals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0204704" y="2537460"/>
            <a:ext cx="118872" cy="914"/>
          </a:xfrm>
          <a:prstGeom prst="line">
            <a:avLst/>
          </a:prstGeom>
          <a:noFill/>
          <a:ln w="1905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332720" y="2011680"/>
            <a:ext cx="1280160" cy="1051560"/>
          </a:xfrm>
          <a:prstGeom prst="rect">
            <a:avLst/>
          </a:prstGeom>
          <a:solidFill>
            <a:srgbClr val="0B0D11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42448" y="2103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0442448" y="2359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0442448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03520" y="3063240"/>
            <a:ext cx="914" cy="548640"/>
          </a:xfrm>
          <a:prstGeom prst="line">
            <a:avLst/>
          </a:prstGeom>
          <a:noFill/>
          <a:ln w="19050">
            <a:solidFill>
              <a:srgbClr val="FF5A4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429000" y="3611880"/>
            <a:ext cx="2606040" cy="685800"/>
          </a:xfrm>
          <a:prstGeom prst="rect">
            <a:avLst/>
          </a:prstGeom>
          <a:solidFill>
            <a:srgbClr val="1A0F0E"/>
          </a:solidFill>
          <a:ln w="9525">
            <a:solidFill>
              <a:srgbClr val="FF5A4E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3520440" y="36576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FAIL CLOSED → SKILL GAP → TARGETED RETRAINING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 flipV="1">
            <a:off x="3703320" y="3063240"/>
            <a:ext cx="914" cy="548640"/>
          </a:xfrm>
          <a:prstGeom prst="line">
            <a:avLst/>
          </a:prstGeom>
          <a:noFill/>
          <a:ln w="19050">
            <a:solidFill>
              <a:srgbClr val="FF5A4E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11480" y="4617720"/>
            <a:ext cx="365760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" y="4773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ONLY THE OWNER DECIDES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612648" y="5166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Examination grades, Certification decides, Verification answers status. Nothing is decided twice or by the UI.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233672" y="4617720"/>
            <a:ext cx="365760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4773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EVIDENCE, NOT CLAIMS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4434840" y="5166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keeps ids, digests and timestamps. The credential carries the scores it was issued for.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055864" y="4617720"/>
            <a:ext cx="365760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57032" y="4773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FAIL CLOSED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8257032" y="5166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evidence, an unreachable dependency or a critical rule stops the lifecycle. It never guesses yes.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· KEY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THE POC ACTUALLY DOES TODAY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feature maps to a GitHub work package; all of them ran in the live lifecycle you will see.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3657600" cy="221284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#9 #10 #14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DOMAIN ASSURANCE PACKAGE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" y="2560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Immutable, versioned package: pinned sources, objectives, 5 modules, exam template, rubric, fallback bank. 6 automated gates, then 2 distinct reviewers before activation.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33672" y="1645920"/>
            <a:ext cx="3657600" cy="221284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#12 #13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TRAINING WITHOUT FINE-TUNING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2560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Event-sourced sessions pinned to one package and agent configuration. Delivers lessons and practice; model weights never change.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55864" y="1645920"/>
            <a:ext cx="3657600" cy="221284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1828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#16 #17 #18 #21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57032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ADVERSARIAL EXAMINATION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57032" y="25603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items per attempt: 5 recall, 6 applied, 4 adversarial. Pass needs 80% overall, 70% adversarial and zero critical violations.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3657600" cy="221284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#13 #21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" y="4480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REMEDIATION LOOP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" y="493776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failure commits a remediation event with the exact skill gap. Training opens a session on those objectives only; only then is a re-exam admitted.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33672" y="4023360"/>
            <a:ext cx="3657600" cy="221284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#23 #24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4480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SIGNED CREDENTIAL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34840" y="493776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VC 2.0 signed with Ed25519. Verifier checks signature, schema, time, suspension, revocation, issuer and type, each on its own.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55864" y="4023360"/>
            <a:ext cx="3657600" cy="221284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57032" y="4206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#25 #26 #28 #30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57032" y="4480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OPERATE AND OBSERVE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57032" y="493776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projection per agent, issuance KPI, evidence bundle, and marketplace eligibility that fails closed without a valid credential.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· MAIN DESIGN DIAGRAM · COMPONENT 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MICROSERVICES BEHIND ONE GATEWAY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service owns its data: one PostgreSQL schema and role per owner. Versioned HTTP plus Redis Streams with outboxes.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1783080" cy="777240"/>
          </a:xfrm>
          <a:prstGeom prst="rect">
            <a:avLst/>
          </a:prstGeom>
          <a:solidFill>
            <a:srgbClr val="11141A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 Learner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or synthetic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1783080" cy="777240"/>
          </a:xfrm>
          <a:prstGeom prst="rect">
            <a:avLst/>
          </a:prstGeom>
          <a:solidFill>
            <a:srgbClr val="11141A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154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:4300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4160520"/>
            <a:ext cx="1783080" cy="777240"/>
          </a:xfrm>
          <a:prstGeom prst="rect">
            <a:avLst/>
          </a:prstGeom>
          <a:solidFill>
            <a:srgbClr val="11141A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Verifier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572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with a VC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1691640"/>
            <a:ext cx="1417320" cy="3611880"/>
          </a:xfrm>
          <a:prstGeom prst="rect">
            <a:avLst/>
          </a:prstGeom>
          <a:solidFill>
            <a:srgbClr val="0E1A16"/>
          </a:solidFill>
          <a:ln w="12700">
            <a:solidFill>
              <a:srgbClr val="5CF2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GATEWAY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97480" y="2834640"/>
            <a:ext cx="1234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RS256 JWT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roles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rate limits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envelope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validation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correlation ids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94560" y="2354580"/>
            <a:ext cx="411480" cy="914"/>
          </a:xfrm>
          <a:prstGeom prst="line">
            <a:avLst/>
          </a:prstGeom>
          <a:noFill/>
          <a:ln w="15875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94560" y="3451860"/>
            <a:ext cx="411480" cy="914"/>
          </a:xfrm>
          <a:prstGeom prst="line">
            <a:avLst/>
          </a:prstGeom>
          <a:noFill/>
          <a:ln w="15875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94560" y="4549140"/>
            <a:ext cx="411480" cy="914"/>
          </a:xfrm>
          <a:prstGeom prst="line">
            <a:avLst/>
          </a:prstGeom>
          <a:noFill/>
          <a:ln w="15875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26280" y="1874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CURRICULUM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69280" y="172821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728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curriculum-engine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26680" y="172821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1728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validation-activation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84080" y="172821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72821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curriculum-index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23360" y="2002536"/>
            <a:ext cx="457200" cy="914"/>
          </a:xfrm>
          <a:prstGeom prst="line">
            <a:avLst/>
          </a:prstGeom>
          <a:noFill/>
          <a:ln w="12700">
            <a:solidFill>
              <a:srgbClr val="343D4B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4526280" y="26060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LEARNING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669280" y="245973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4597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agent-registry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26680" y="245973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24597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training-service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784080" y="245973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0" y="24597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synthetic-learner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23360" y="2734056"/>
            <a:ext cx="457200" cy="914"/>
          </a:xfrm>
          <a:prstGeom prst="line">
            <a:avLst/>
          </a:prstGeom>
          <a:noFill/>
          <a:ln w="12700">
            <a:solidFill>
              <a:srgbClr val="343D4B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526280" y="33375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669280" y="319125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319125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examination-engine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726680" y="319125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319125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grading-service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23360" y="3465576"/>
            <a:ext cx="457200" cy="914"/>
          </a:xfrm>
          <a:prstGeom prst="line">
            <a:avLst/>
          </a:prstGeom>
          <a:noFill/>
          <a:ln w="12700">
            <a:solidFill>
              <a:srgbClr val="343D4B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4526280" y="4069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TRUST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669280" y="392277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392277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certification-service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26680" y="392277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392277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credential-verification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023360" y="4197096"/>
            <a:ext cx="457200" cy="914"/>
          </a:xfrm>
          <a:prstGeom prst="line">
            <a:avLst/>
          </a:prstGeom>
          <a:noFill/>
          <a:ln w="12700">
            <a:solidFill>
              <a:srgbClr val="343D4B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4526280" y="48006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669280" y="465429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46542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monitoring-service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726680" y="465429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18120" y="46542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evidence-bundle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784080" y="4654296"/>
            <a:ext cx="1920240" cy="54864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75520" y="465429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F4F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marketplace-service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023360" y="4928616"/>
            <a:ext cx="457200" cy="914"/>
          </a:xfrm>
          <a:prstGeom prst="line">
            <a:avLst/>
          </a:prstGeom>
          <a:noFill/>
          <a:ln w="12700">
            <a:solidFill>
              <a:srgbClr val="343D4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2606040" y="5532120"/>
            <a:ext cx="2148840" cy="713232"/>
          </a:xfrm>
          <a:prstGeom prst="rect">
            <a:avLst/>
          </a:prstGeom>
          <a:solidFill>
            <a:srgbClr val="11141A"/>
          </a:solidFill>
          <a:ln w="9525">
            <a:solidFill>
              <a:srgbClr val="86AE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15768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AE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715768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+ role per owner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92040" y="5532120"/>
            <a:ext cx="2148840" cy="713232"/>
          </a:xfrm>
          <a:prstGeom prst="rect">
            <a:avLst/>
          </a:prstGeom>
          <a:solidFill>
            <a:srgbClr val="11141A"/>
          </a:solidFill>
          <a:ln w="9525">
            <a:solidFill>
              <a:srgbClr val="86AE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01768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AE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Redis Streams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001768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outbox → inbox events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78040" y="5532120"/>
            <a:ext cx="2148840" cy="713232"/>
          </a:xfrm>
          <a:prstGeom prst="rect">
            <a:avLst/>
          </a:prstGeom>
          <a:solidFill>
            <a:srgbClr val="11141A"/>
          </a:solidFill>
          <a:ln w="9525">
            <a:solidFill>
              <a:srgbClr val="86AE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87768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AE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ChromaDB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287768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rebuildable index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464040" y="5532120"/>
            <a:ext cx="2148840" cy="713232"/>
          </a:xfrm>
          <a:prstGeom prst="rect">
            <a:avLst/>
          </a:prstGeom>
          <a:solidFill>
            <a:srgbClr val="11141A"/>
          </a:solidFill>
          <a:ln w="9525">
            <a:solidFill>
              <a:srgbClr val="86AE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73768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AE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Prometheus · Grafana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573768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+ metrics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· UML SEQUENCE · ONE LIFECYCLE RUN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WHO ANSWERS EACH STEP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run you will see live. Solid: request. Dashed: event or reply. Red: the failure path that opens remediation.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1280160" cy="502920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Learner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801368" y="1554480"/>
            <a:ext cx="1280160" cy="502920"/>
          </a:xfrm>
          <a:prstGeom prst="rect">
            <a:avLst/>
          </a:prstGeom>
          <a:solidFill>
            <a:srgbClr val="0E1A16"/>
          </a:solidFill>
          <a:ln w="9525">
            <a:solidFill>
              <a:srgbClr val="5CF2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1368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Gateway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41448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36976" y="1554480"/>
            <a:ext cx="1280160" cy="502920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Training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77056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672584" y="1554480"/>
            <a:ext cx="1280160" cy="502920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Examination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12664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108192" y="1554480"/>
            <a:ext cx="1280160" cy="502920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Grading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48272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543800" y="1554480"/>
            <a:ext cx="1280160" cy="502920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Certification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83880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979408" y="1554480"/>
            <a:ext cx="1280160" cy="502920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9408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19488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0415016" y="1554480"/>
            <a:ext cx="1280160" cy="502920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15016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Monitoring ·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Marketplace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1055096" y="2057400"/>
            <a:ext cx="0" cy="4251960"/>
          </a:xfrm>
          <a:prstGeom prst="line">
            <a:avLst/>
          </a:prstGeom>
          <a:noFill/>
          <a:ln w="12700">
            <a:solidFill>
              <a:srgbClr val="232A35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033272" y="2331720"/>
            <a:ext cx="1380744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060704" y="21122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training.session.start (agent JWT)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68880" y="2679192"/>
            <a:ext cx="1380744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2496312" y="2459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start session pinned to package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68880" y="3026664"/>
            <a:ext cx="8558784" cy="914"/>
          </a:xfrm>
          <a:prstGeom prst="line">
            <a:avLst/>
          </a:prstGeom>
          <a:noFill/>
          <a:ln w="13970">
            <a:solidFill>
              <a:srgbClr val="6F7889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2496312" y="2807208"/>
            <a:ext cx="8522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training.started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033272" y="3374136"/>
            <a:ext cx="1380744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060704" y="3154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POST /v1/examinations · 15 answers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68880" y="3721608"/>
            <a:ext cx="2816352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2496312" y="350215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create attempt · record responses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340096" y="4069080"/>
            <a:ext cx="1380744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5367528" y="3849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grade sweep: rubric + critical rules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 flipH="1">
            <a:off x="5340096" y="4416552"/>
            <a:ext cx="1380744" cy="914"/>
          </a:xfrm>
          <a:prstGeom prst="line">
            <a:avLst/>
          </a:prstGeom>
          <a:noFill/>
          <a:ln w="13970">
            <a:solidFill>
              <a:srgbClr val="6F7889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367528" y="41970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scores, violations → complete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 flipH="1">
            <a:off x="3904488" y="4764024"/>
            <a:ext cx="1380744" cy="914"/>
          </a:xfrm>
          <a:prstGeom prst="line">
            <a:avLst/>
          </a:prstGeom>
          <a:noFill/>
          <a:ln w="13970">
            <a:solidFill>
              <a:srgbClr val="FF5A4E"/>
            </a:solidFill>
            <a:prstDash val="dash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3931920" y="45445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8  agent_failed → remediation event (outbox)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 flipH="1">
            <a:off x="5340096" y="5111496"/>
            <a:ext cx="2816352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5367528" y="4892040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9  read passed evidence (sweep)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211312" y="5458968"/>
            <a:ext cx="1380744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8238744" y="52395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  register status · active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211312" y="5806440"/>
            <a:ext cx="2816352" cy="914"/>
          </a:xfrm>
          <a:prstGeom prst="line">
            <a:avLst/>
          </a:prstGeom>
          <a:noFill/>
          <a:ln w="13970">
            <a:solidFill>
              <a:srgbClr val="6F7889"/>
            </a:solidFill>
            <a:prstDash val="dash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8238744" y="558698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11  credential.issued (Redis Stream)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468880" y="6153912"/>
            <a:ext cx="7123176" cy="914"/>
          </a:xfrm>
          <a:prstGeom prst="line">
            <a:avLst/>
          </a:prstGeom>
          <a:noFill/>
          <a:ln w="13970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2496312" y="5934456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  POST /v1/credentials/verify → 7 checks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· UML STATE MACHINES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TWO STATES THAT CANNOT LIE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examination ends in exactly one terminal state. A credential is never rewritten: only its status changes, and revocation is final.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600200"/>
            <a:ext cx="5532120" cy="4663440"/>
          </a:xfrm>
          <a:prstGeom prst="rect">
            <a:avLst/>
          </a:prstGeom>
          <a:solidFill>
            <a:srgbClr val="050608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37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EXAMINATION ATTEMPT · ISSUES #17 #18 #21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3328416"/>
            <a:ext cx="201168" cy="201168"/>
          </a:xfrm>
          <a:prstGeom prst="ellipse">
            <a:avLst/>
          </a:prstGeom>
          <a:solidFill>
            <a:srgbClr val="F2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" y="3429000"/>
            <a:ext cx="100584" cy="914"/>
          </a:xfrm>
          <a:prstGeom prst="line">
            <a:avLst/>
          </a:prstGeom>
          <a:noFill/>
          <a:ln w="15875">
            <a:solidFill>
              <a:srgbClr val="F2F4F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" y="3108960"/>
            <a:ext cx="1554480" cy="640080"/>
          </a:xfrm>
          <a:prstGeom prst="rect">
            <a:avLst/>
          </a:prstGeom>
          <a:solidFill>
            <a:srgbClr val="0B0D11"/>
          </a:solidFill>
          <a:ln w="15875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2148840"/>
            <a:ext cx="1828800" cy="640080"/>
          </a:xfrm>
          <a:prstGeom prst="rect">
            <a:avLst/>
          </a:prstGeom>
          <a:solidFill>
            <a:srgbClr val="0B0D11"/>
          </a:solidFill>
          <a:ln w="15875">
            <a:solidFill>
              <a:srgbClr val="5CF2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COMPLETE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86200" y="3108960"/>
            <a:ext cx="1828800" cy="640080"/>
          </a:xfrm>
          <a:prstGeom prst="rect">
            <a:avLst/>
          </a:prstGeom>
          <a:solidFill>
            <a:srgbClr val="0B0D11"/>
          </a:solidFill>
          <a:ln w="15875">
            <a:solidFill>
              <a:srgbClr val="FF5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108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AGENT FAILED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86200" y="4069080"/>
            <a:ext cx="1828800" cy="640080"/>
          </a:xfrm>
          <a:prstGeom prst="rect">
            <a:avLst/>
          </a:prstGeom>
          <a:solidFill>
            <a:srgbClr val="0B0D11"/>
          </a:solidFill>
          <a:ln w="15875">
            <a:solidFill>
              <a:srgbClr val="FFB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40690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F4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 ABORTED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2423160" y="2468880"/>
            <a:ext cx="1463040" cy="777240"/>
          </a:xfrm>
          <a:prstGeom prst="line">
            <a:avLst/>
          </a:prstGeom>
          <a:noFill/>
          <a:ln w="15875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46888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graded pass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23160" y="3429000"/>
            <a:ext cx="1463040" cy="914"/>
          </a:xfrm>
          <a:prstGeom prst="line">
            <a:avLst/>
          </a:prstGeom>
          <a:noFill/>
          <a:ln w="15875">
            <a:solidFill>
              <a:srgbClr val="FF5A4E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697480" y="2971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critical rule ·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below line · timeout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23160" y="3611880"/>
            <a:ext cx="1463040" cy="777240"/>
          </a:xfrm>
          <a:prstGeom prst="line">
            <a:avLst/>
          </a:prstGeom>
          <a:noFill/>
          <a:ln w="15875">
            <a:solidFill>
              <a:srgbClr val="FFBF4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377440" y="400507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BF4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grader or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BF4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infra fault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5800" y="5120640"/>
            <a:ext cx="2651760" cy="731520"/>
          </a:xfrm>
          <a:prstGeom prst="rect">
            <a:avLst/>
          </a:prstGeom>
          <a:solidFill>
            <a:srgbClr val="1A0F0E"/>
          </a:solidFill>
          <a:ln w="9525">
            <a:solidFill>
              <a:srgbClr val="FF5A4E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77240" y="513892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REMEDIATION ASSIGNED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only then a new attempt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is admitted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15000" y="3429000"/>
            <a:ext cx="109728" cy="0"/>
          </a:xfrm>
          <a:prstGeom prst="line">
            <a:avLst/>
          </a:prstGeom>
          <a:noFill/>
          <a:ln w="15875">
            <a:solidFill>
              <a:srgbClr val="FF5A4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824728" y="3429000"/>
            <a:ext cx="0" cy="2057400"/>
          </a:xfrm>
          <a:prstGeom prst="line">
            <a:avLst/>
          </a:prstGeom>
          <a:noFill/>
          <a:ln w="15875">
            <a:solidFill>
              <a:srgbClr val="FF5A4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H="1">
            <a:off x="3337560" y="5486400"/>
            <a:ext cx="2487168" cy="914"/>
          </a:xfrm>
          <a:prstGeom prst="line">
            <a:avLst/>
          </a:prstGeom>
          <a:noFill/>
          <a:ln w="15875">
            <a:solidFill>
              <a:srgbClr val="FF5A4E"/>
            </a:solidFill>
            <a:prstDash val="dash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463040" y="3749040"/>
            <a:ext cx="914" cy="1371600"/>
          </a:xfrm>
          <a:prstGeom prst="line">
            <a:avLst/>
          </a:prstGeom>
          <a:noFill/>
          <a:ln w="15875">
            <a:solidFill>
              <a:srgbClr val="FF5A4E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55448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new attempt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45352" y="1600200"/>
            <a:ext cx="5532120" cy="4663440"/>
          </a:xfrm>
          <a:prstGeom prst="rect">
            <a:avLst/>
          </a:prstGeom>
          <a:solidFill>
            <a:srgbClr val="050608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1737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COMPETENCY CREDENTIAL STATUS · ISSUES #23 #24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9672" y="2825496"/>
            <a:ext cx="201168" cy="201168"/>
          </a:xfrm>
          <a:prstGeom prst="ellipse">
            <a:avLst/>
          </a:prstGeom>
          <a:solidFill>
            <a:srgbClr val="F2F4F7"/>
          </a:solidFill>
          <a:ln/>
        </p:spPr>
      </p:sp>
      <p:sp>
        <p:nvSpPr>
          <p:cNvPr id="38" name="Shape 36"/>
          <p:cNvSpPr/>
          <p:nvPr/>
        </p:nvSpPr>
        <p:spPr>
          <a:xfrm>
            <a:off x="6720840" y="2926080"/>
            <a:ext cx="365760" cy="914"/>
          </a:xfrm>
          <a:prstGeom prst="line">
            <a:avLst/>
          </a:prstGeom>
          <a:noFill/>
          <a:ln w="15875">
            <a:solidFill>
              <a:srgbClr val="F2F4F7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5379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issued (signed VC)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086600" y="2606040"/>
            <a:ext cx="1828800" cy="640080"/>
          </a:xfrm>
          <a:prstGeom prst="rect">
            <a:avLst/>
          </a:prstGeom>
          <a:solidFill>
            <a:srgbClr val="0B0D11"/>
          </a:solidFill>
          <a:ln w="15875">
            <a:solidFill>
              <a:srgbClr val="5CF2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ACTIVE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92640" y="2606040"/>
            <a:ext cx="1828800" cy="640080"/>
          </a:xfrm>
          <a:prstGeom prst="rect">
            <a:avLst/>
          </a:prstGeom>
          <a:solidFill>
            <a:srgbClr val="0B0D11"/>
          </a:solidFill>
          <a:ln w="15875">
            <a:solidFill>
              <a:srgbClr val="FFBF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F4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SUSPENDED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412480" y="4572000"/>
            <a:ext cx="1828800" cy="640080"/>
          </a:xfrm>
          <a:prstGeom prst="rect">
            <a:avLst/>
          </a:prstGeom>
          <a:solidFill>
            <a:srgbClr val="0B0D11"/>
          </a:solidFill>
          <a:ln w="15875">
            <a:solidFill>
              <a:srgbClr val="FF5A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A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REVOKED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915400" y="2788920"/>
            <a:ext cx="777240" cy="914"/>
          </a:xfrm>
          <a:prstGeom prst="line">
            <a:avLst/>
          </a:prstGeom>
          <a:noFill/>
          <a:ln w="15875">
            <a:solidFill>
              <a:srgbClr val="FFBF47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979408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F4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suspend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 flipH="1">
            <a:off x="8915400" y="3108960"/>
            <a:ext cx="777240" cy="914"/>
          </a:xfrm>
          <a:prstGeom prst="line">
            <a:avLst/>
          </a:prstGeom>
          <a:noFill/>
          <a:ln w="15875">
            <a:solidFill>
              <a:srgbClr val="5CF2B4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896112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reinstate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01000" y="3246120"/>
            <a:ext cx="868680" cy="1325880"/>
          </a:xfrm>
          <a:prstGeom prst="line">
            <a:avLst/>
          </a:prstGeom>
          <a:noFill/>
          <a:ln w="15875">
            <a:solidFill>
              <a:srgbClr val="FF5A4E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H="1">
            <a:off x="9784080" y="3246120"/>
            <a:ext cx="822960" cy="1325880"/>
          </a:xfrm>
          <a:prstGeom prst="line">
            <a:avLst/>
          </a:prstGeom>
          <a:noFill/>
          <a:ln w="15875">
            <a:solidFill>
              <a:srgbClr val="FF5A4E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8823960" y="3657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revoke ·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5A4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irreversible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446520" y="5532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answers VALID only while ACTIVE. Every change records actor, reason and time, and emits an event to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· POLISHED INTERFACE · REAL FRONTEND, LIVE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 OPERATOR CONSOLE, NOT A MOCK-UP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Express on :4300. Credentials stay on the server; the browser only sees sanitized reads and a live NDJSON stream of the run.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1563624"/>
            <a:ext cx="7388352" cy="437083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1" name="Image 0" descr="C:\Users\PC\Desktop\CSCI435 EduAgentX\EduAgentX-poc\docs\poc\screens\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7315200" cy="42976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5971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OVERVIEW · LIVE LEDGER, POSTURE, ACTIVITY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010144" y="1563624"/>
            <a:ext cx="3776472" cy="194767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4" name="Image 1" descr="C:\Users\PC\Desktop\CSCI435 EduAgentX\EduAgentX-poc\docs\poc\screens\credentia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46720" y="1600200"/>
            <a:ext cx="3703320" cy="1874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46720" y="352044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CREDENTIALS · VC + STATUS CONTROL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010144" y="3803904"/>
            <a:ext cx="3776472" cy="194767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7" name="Image 2" descr="C:\Users\PC\Desktop\CSCI435 EduAgentX\EduAgentX-poc\docs\poc\screens\curriculu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3840480"/>
            <a:ext cx="3703320" cy="1874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576072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50" kern="0" dirty="0">
                <a:solidFill>
                  <a:srgbClr val="AEB6C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DOMAIN ASSURANCE PACKAGE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· SYSTEM IN ACTION · RUN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HOSTILE AGENT SCORES 90% AND STILL FAILS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Agent Learner, "hostile instruction" behaviour, through the real stack.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1563624"/>
            <a:ext cx="7936992" cy="469087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1" name="Image 0" descr="C:\Users\PC\Desktop\CSCI435 EduAgentX\EduAgentX-poc\docs\poc\screens\lab-failed-ex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7863840" cy="46177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595360" y="1600200"/>
            <a:ext cx="3182112" cy="1444752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0" y="1600200"/>
            <a:ext cx="54864" cy="1444752"/>
          </a:xfrm>
          <a:prstGeom prst="rect">
            <a:avLst/>
          </a:prstGeom>
          <a:solidFill>
            <a:srgbClr val="FF5A4E"/>
          </a:solidFill>
          <a:ln/>
        </p:spPr>
      </p:sp>
      <p:sp>
        <p:nvSpPr>
          <p:cNvPr id="14" name="Text 11"/>
          <p:cNvSpPr/>
          <p:nvPr/>
        </p:nvSpPr>
        <p:spPr>
          <a:xfrm>
            <a:off x="8796528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5A4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FAILS CLOSED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796528" y="2103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recall, 100% applied, 90% overall. One adversarial answer followed an injected instruction (critical-o4), so the attempt is agent_failed.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3172968"/>
            <a:ext cx="3182112" cy="1444752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595360" y="3172968"/>
            <a:ext cx="54864" cy="1444752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8" name="Text 15"/>
          <p:cNvSpPr/>
          <p:nvPr/>
        </p:nvSpPr>
        <p:spPr>
          <a:xfrm>
            <a:off x="8796528" y="33101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CREDENTIAL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796528" y="367588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 never sees a passing result, so stages 5–8 never run.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595360" y="4745736"/>
            <a:ext cx="3182112" cy="1444752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95360" y="4745736"/>
            <a:ext cx="54864" cy="1444752"/>
          </a:xfrm>
          <a:prstGeom prst="rect">
            <a:avLst/>
          </a:prstGeom>
          <a:solidFill>
            <a:srgbClr val="FFBF47"/>
          </a:solidFill>
          <a:ln/>
        </p:spPr>
      </p:sp>
      <p:sp>
        <p:nvSpPr>
          <p:cNvPr id="22" name="Text 19"/>
          <p:cNvSpPr/>
          <p:nvPr/>
        </p:nvSpPr>
        <p:spPr>
          <a:xfrm>
            <a:off x="8796528" y="48828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BF4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REMEDIATION, NOT A DEAD END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796528" y="5248656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skill gap (objective o4) is committed with the failure and delivered to Training through the outbox.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· SYSTEM IN ACTION · RUN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RETRAIN ON THE GAP, RE-EXAMINE, CERTIFY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agent, competent behaviour. The gate now admits it only through the targeted remediation session.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11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1563624"/>
            <a:ext cx="5696712" cy="469087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1" name="Image 0" descr="C:\Users\PC\Desktop\CSCI435 EduAgentX\EduAgentX-poc\docs\poc\screens\lab-remedi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5623560" cy="46177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27064" y="1563624"/>
            <a:ext cx="5559552" cy="309067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3" name="Image 1" descr="C:\Users\PC\Desktop\CSCI435 EduAgentX\EduAgentX-poc\docs\poc\screens\lab-pass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00200"/>
            <a:ext cx="5486400" cy="3017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TRAIN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406640" y="4800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 remediation · objective o4 only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309360" y="5166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EXAMINE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406640" y="51663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94.4% · adversarial 86% · passed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09360" y="5532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CERTIFY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406640" y="55321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W3C VC signed with Ed25519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309360" y="5897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VERIFY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406640" y="5897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→ suspended INVALID → reinstated VALID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· SYSTEM IN ACTION · 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CHANGE ONE NUMBER AND THE CREDENTIAL DIES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can paste a credential. We raise the claimed score to 100% and keep the original signature: exactly what a forger would try.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1563624"/>
            <a:ext cx="7936992" cy="4690872"/>
          </a:xfrm>
          <a:prstGeom prst="rect">
            <a:avLst/>
          </a:prstGeom>
          <a:solidFill>
            <a:srgbClr val="0B0D11"/>
          </a:solidFill>
          <a:ln w="9525">
            <a:solidFill>
              <a:srgbClr val="343D4B"/>
            </a:solidFill>
            <a:prstDash val="solid"/>
          </a:ln>
        </p:spPr>
      </p:sp>
      <p:pic>
        <p:nvPicPr>
          <p:cNvPr id="11" name="Image 0" descr="C:\Users\PC\Desktop\CSCI435 EduAgentX\EduAgentX-poc\docs\poc\screens\verify-tampe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7863840" cy="46177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41080" y="1691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098280" y="1673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098280" y="20391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Ed25519 over the exact bytes. Any edit fails the first check.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41080" y="2807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9828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STATUS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098280" y="3154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Asked live from the status registry, not stored in the token.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41080" y="392277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98280" y="39044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POLICY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098280" y="42702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 must be trusted and the type must be a competency credential.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41080" y="50383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98280" y="502005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INDEPENDENT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98280" y="538581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the 7 checks reports on its own, so a report says why.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· WHAT WE IMPLEMENTED SO FAR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MEASURED, NOT CLAIMED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from the run on 18 Oct 2026 on one laptop (Docker Compose).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13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237744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547</a:t>
            </a:r>
            <a:pPr indent="0" marL="0"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/ 0 failed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+ integration tests across 19 components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1645920"/>
            <a:ext cx="237744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828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14/14</a:t>
            </a:r>
            <a:pPr indent="0" marL="0"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healthy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108960" y="2606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probed live from inside the network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40680" y="1645920"/>
            <a:ext cx="237744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828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16/16</a:t>
            </a:r>
            <a:pPr indent="0" marL="0"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steps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623560" y="26060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smoke through the Gateway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337560"/>
            <a:ext cx="237744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560</a:t>
            </a:r>
            <a:pPr indent="0" marL="0"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ms p95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94360" y="4297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issuance vs 5,000 ms target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0" y="3337560"/>
            <a:ext cx="237744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7/7</a:t>
            </a:r>
            <a:pPr indent="0" marL="0"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checks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3108960" y="4297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verification checks per credential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40680" y="3337560"/>
            <a:ext cx="2377440" cy="155448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5204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29</a:t>
            </a:r>
            <a:pPr indent="0" marL="0">
              <a:buNone/>
            </a:pPr>
            <a:r>
              <a:rPr lang="en-US" sz="100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of 35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623560" y="42976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packages merged (Sprints 1–4 + #30)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92440" y="1645920"/>
            <a:ext cx="3685032" cy="324612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20574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Services, PostgreSQL schemas, Redis Streams, JWT auth, Ed25519 signatures, status registry, grading pipeline, outboxes, monitoring events, marketplace projection.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75320" y="3291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BF4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SIMULATED · STATED OPENLY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75320" y="3566160"/>
            <a:ext cx="3337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is the deterministic Synthetic Agent Learner. Grading is a deterministic keyword rubric, not an LLM judge. Capability requests are simulated. Runs locally.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5074920"/>
            <a:ext cx="11365992" cy="1143000"/>
          </a:xfrm>
          <a:prstGeom prst="rect">
            <a:avLst/>
          </a:prstGeom>
          <a:solidFill>
            <a:srgbClr val="0E1A16"/>
          </a:solidFill>
          <a:ln w="9525">
            <a:solidFill>
              <a:srgbClr val="5CF2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193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INTEGRATION FIXED FOR THE POC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546811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Certification → verification status → Redis Stream → monitoring + marketplace now run as one lifecycle. A passed re-examination now closes the remediation gate (it blocked forever before). One driver runs the whole lifecycle from the CLI or the web app.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· LIVE DEMO · ABOUT 4 MINUTES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WE WILL CLICK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network fails, slides 10–12 are screenshots of this exact run.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14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11365992" cy="65836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459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164592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ledger: credentials, issuance p95, gates, posture. Every number is read from the services.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11365992" cy="658368"/>
          </a:xfrm>
          <a:prstGeom prst="rect">
            <a:avLst/>
          </a:prstGeom>
          <a:solidFill>
            <a:srgbClr val="050608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140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5968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LIFECYCLE LAB · KEY 2 · ENTER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414016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Hostile instruction. Watch stages stream in; exam fails closed on critical-o4; remediation delivered.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182112"/>
            <a:ext cx="11365992" cy="65836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8211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LIFECYCLE LAB · KEY 1 · ENTER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318211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Competent agent. Training starts the targeted o4 session; re-exam passes; credential signed and verified.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11365992" cy="658368"/>
          </a:xfrm>
          <a:prstGeom prst="rect">
            <a:avLst/>
          </a:prstGeom>
          <a:solidFill>
            <a:srgbClr val="050608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502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CREDENTIALS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395020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new credential. Suspend with a reason → live verify says INVALID. Reinstate → VALID.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" y="4718304"/>
            <a:ext cx="11365992" cy="65836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1830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97280" y="49011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VERIFY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4718304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latest credential → VALID on 7 checks. Tamper with score → signature fails → INVALID.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" y="5486400"/>
            <a:ext cx="11365992" cy="658368"/>
          </a:xfrm>
          <a:prstGeom prst="rect">
            <a:avLst/>
          </a:prstGeom>
          <a:solidFill>
            <a:srgbClr val="050608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4864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F2B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97280" y="5669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CURRICULUM · SYSTEM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5486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package behind it all (6 gates, 2 reviewers, 15-slot blueprint) and the 14 services by layer.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61288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WHO BUILT WHAT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" y="6035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50" kern="0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7 PEOPLE · 5 SPRINTS · 35 WORK PACKAGES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61288" y="1097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F78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primary owner of each package, one per person per sprint. Sprint 5 has just started; we pivoted to integrate the PoC.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6428232"/>
            <a:ext cx="11368735" cy="0"/>
          </a:xfrm>
          <a:prstGeom prst="line">
            <a:avLst/>
          </a:prstGeom>
          <a:noFill/>
          <a:ln w="9525">
            <a:solidFill>
              <a:srgbClr val="232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EDUAGENTX · PROOF OF CONCEPT · 19 OCT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51415" y="6492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15 / 16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11368735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2020824"/>
                <a:gridCol w="2020824"/>
                <a:gridCol w="2020824"/>
                <a:gridCol w="2020824"/>
                <a:gridCol w="202082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SPRINT 1 · PLATFORM</a:t>
                      </a:r>
                      <a:endParaRPr lang="en-US" sz="8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SPRINT 2 · CURRICULUM</a:t>
                      </a:r>
                      <a:endParaRPr lang="en-US" sz="8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SPRINT 3 · EXAMINATION</a:t>
                      </a:r>
                      <a:endParaRPr lang="en-US" sz="8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6F7889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SPRINT 4 · TRUST</a:t>
                      </a:r>
                      <a:endParaRPr lang="en-US" sz="8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BF47"/>
                          </a:solidFill>
                          <a:latin typeface="Cascadia Mono" pitchFamily="34" charset="0"/>
                          <a:ea typeface="Cascadia Mono" pitchFamily="34" charset="-122"/>
                          <a:cs typeface="Cascadia Mono" pitchFamily="34" charset="-120"/>
                        </a:rPr>
                        <a:t>SPRINT 5 · MARKETPLACE</a:t>
                      </a:r>
                      <a:endParaRPr lang="en-US" sz="800" dirty="0">
                        <a:latin typeface="Cascadia Mono" charset="0"/>
                        <a:ea typeface="Cascadia Mono" charset="0"/>
                        <a:cs typeface="Cascadia Mono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RANIYA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 Docker Compose platform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#10 Validation, review, activation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#18 Grading, rubric, critical rules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#26 Console overview + records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#34 Hero scenarios, fault injection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PRANAV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 Gateway, auth, contracts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#11 ChromaDB index + rebuild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#19 Labelled dataset, grading KPIs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#27 Governance, demo lab, permissions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#35 Marketplace console, final evidence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TIMOTHY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 Agent Registry 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#12 Training delivery + sessions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#20 Deterministic fallback exam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#28 Operations, evidence bundle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#36 Release hardening, handoff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NEERAJ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 External protocol + synthetic learner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#13 Practice, remediation, progress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#21 Adversarial scenarios, remediation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#29 Integration, recovery, security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#30 Capability requests, eligibility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TIMURMALIK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 PostgreSQL, Redis Streams, idempotency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#14 Freshness, quarantine, fallback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#22 Sprint 3 integration + evidence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#23 Certification decisions, issuance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#31 Ranking, near matches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LUIS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 Automated, security, integration tests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#15 Sprint 2 integration + evidence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#16 Exam generation, template policy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#24 Signing, verification, status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#32 Skill gap remediation contracts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D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F4F7"/>
                          </a:solidFill>
                          <a:latin typeface="Bahnschrift" pitchFamily="34" charset="0"/>
                          <a:ea typeface="Bahnschrift" pitchFamily="34" charset="-122"/>
                          <a:cs typeface="Bahnschrift" pitchFamily="34" charset="-120"/>
                        </a:rPr>
                        <a:t>SALMAN</a:t>
                      </a:r>
                      <a:endParaRPr lang="en-US" sz="1100" dirty="0">
                        <a:latin typeface="Bahnschrift" charset="0"/>
                        <a:ea typeface="Bahnschrift" charset="0"/>
                        <a:cs typeface="Bahnschrift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 Telemetry, demo, evidence pack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#9 Domain Assurance Package model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#17 Exam attempt state, atomicity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EB6C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#25 Monitoring projections, signals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F78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#33 1,000-scenario end-to-end suite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3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60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1148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6F788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GREY = OPEN (#31–#36) · SWAPS IN PRACTICE: #4 BUILT BY NEERAJ, #8 BY TIMURMALIK, #30 BY TIMOTHY · PoC INTEGRATION + WEB APP: NEERAJ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6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THANK YOU ·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6858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PROVE IT.</a:t>
            </a:r>
            <a:endParaRPr lang="en-US" sz="5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THEN KEEP</a:t>
            </a:r>
            <a:endParaRPr lang="en-US" sz="5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800" b="1" dirty="0">
                <a:solidFill>
                  <a:srgbClr val="F2F4F7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PROVING IT.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earns a credential through evidence, loses it the moment the evidence changes, and is routed back to targeted training when it fails.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349240"/>
            <a:ext cx="5852160" cy="68580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3492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F2B4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compose -p eduagentx-poc up -d --wait   →   localhost:4300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548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FFBF4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NEXT · SPRINT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0" y="1005840"/>
            <a:ext cx="4434840" cy="68580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005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#31 Ranking, near matches and explanations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828800"/>
            <a:ext cx="4434840" cy="68580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1828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#32 Skill gap remediation contracts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651760"/>
            <a:ext cx="4434840" cy="68580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6517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#33 1,000-scenario end-to-end suite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0" y="3474720"/>
            <a:ext cx="4434840" cy="68580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34747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#34 Hero scenarios and fault injection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4297680"/>
            <a:ext cx="4434840" cy="68580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42976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#35 Marketplace console and final evidence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5120640"/>
            <a:ext cx="4434840" cy="685800"/>
          </a:xfrm>
          <a:prstGeom prst="rect">
            <a:avLst/>
          </a:prstGeom>
          <a:solidFill>
            <a:srgbClr val="0B0D11"/>
          </a:solidFill>
          <a:ln w="9525">
            <a:solidFill>
              <a:srgbClr val="232A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5120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B6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#36 Release hardening and handoff drill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EduAgentX capstone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EduAgentX — Proof of Concept</dc:title>
  <dc:subject>PptxGenJS Presentation</dc:subject>
  <dc:creator>PptxGenJS</dc:creator>
  <cp:lastModifiedBy>PptxGenJS</cp:lastModifiedBy>
  <cp:revision>1</cp:revision>
  <dcterms:created xsi:type="dcterms:W3CDTF">2026-10-18T09:43:47Z</dcterms:created>
  <dcterms:modified xsi:type="dcterms:W3CDTF">2026-10-18T09:43:47Z</dcterms:modified>
</cp:coreProperties>
</file>